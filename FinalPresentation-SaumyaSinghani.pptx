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ontserrat Bold" panose="020B0604020202020204" charset="0"/>
      <p:regular r:id="rId8"/>
    </p:embeddedFont>
    <p:embeddedFont>
      <p:font typeface="Open Sauce" panose="020B0604020202020204" charset="0"/>
      <p:regular r:id="rId9"/>
    </p:embeddedFont>
    <p:embeddedFont>
      <p:font typeface="Open Sauce Bold" panose="020B0604020202020204" charset="0"/>
      <p:regular r:id="rId10"/>
    </p:embeddedFont>
    <p:embeddedFont>
      <p:font typeface="Open Sauce Bold Italics" panose="020B0604020202020204" charset="0"/>
      <p:regular r:id="rId11"/>
    </p:embeddedFont>
    <p:embeddedFont>
      <p:font typeface="Open Sauce Semi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6247" y="785931"/>
            <a:ext cx="17625290" cy="234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Stagnation </a:t>
            </a:r>
            <a:r>
              <a:rPr lang="en-US" sz="7100" b="1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Crisis</a:t>
            </a:r>
            <a:r>
              <a:rPr lang="en-US" sz="7100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</a:p>
          <a:p>
            <a:pPr algn="l">
              <a:lnSpc>
                <a:spcPts val="8820"/>
              </a:lnSpc>
              <a:spcBef>
                <a:spcPct val="0"/>
              </a:spcBef>
            </a:pPr>
            <a:r>
              <a:rPr lang="en-US" sz="6300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Our Top Talent is Preparing to Leave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6463" y="7473035"/>
            <a:ext cx="17475074" cy="200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80"/>
              </a:lnSpc>
            </a:pPr>
            <a:r>
              <a:rPr lang="en-US" sz="2843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Saumya Singhani  </a:t>
            </a:r>
          </a:p>
          <a:p>
            <a:pPr algn="r">
              <a:lnSpc>
                <a:spcPts val="3980"/>
              </a:lnSpc>
            </a:pPr>
            <a:r>
              <a:rPr lang="en-US" sz="2843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MGMT 595: Advanced HR Analytics</a:t>
            </a:r>
          </a:p>
          <a:p>
            <a:pPr algn="r">
              <a:lnSpc>
                <a:spcPts val="3980"/>
              </a:lnSpc>
            </a:pPr>
            <a:r>
              <a:rPr lang="en-US" sz="2843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Professor Dr. Angela Grotto </a:t>
            </a:r>
          </a:p>
          <a:p>
            <a:pPr algn="r">
              <a:lnSpc>
                <a:spcPts val="3980"/>
              </a:lnSpc>
              <a:spcBef>
                <a:spcPct val="0"/>
              </a:spcBef>
            </a:pPr>
            <a:r>
              <a:rPr lang="en-US" sz="2843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Montclair State University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1355" y="3307010"/>
            <a:ext cx="17625290" cy="588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0"/>
              </a:lnSpc>
              <a:spcBef>
                <a:spcPct val="0"/>
              </a:spcBef>
            </a:pPr>
            <a:r>
              <a:rPr lang="en-US" sz="3443" b="1" i="1">
                <a:solidFill>
                  <a:srgbClr val="ED7D31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 Predictive Audit of the 6-Year Turnover Cliff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0243" y="390358"/>
            <a:ext cx="16829057" cy="72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  <a:spcBef>
                <a:spcPct val="0"/>
              </a:spcBef>
            </a:pPr>
            <a:r>
              <a:rPr lang="en-US" sz="4243" b="1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Biggest Assumption is Wrong:</a:t>
            </a:r>
            <a:r>
              <a:rPr lang="en-US" sz="424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Pay is Not 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6446" y="8059888"/>
            <a:ext cx="17755108" cy="1198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0"/>
              </a:lnSpc>
              <a:spcBef>
                <a:spcPct val="0"/>
              </a:spcBef>
            </a:pPr>
            <a:r>
              <a:rPr lang="en-US" sz="3443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are treating a stagnation problem with salary solutions. The data proves movement matters more than money.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1959912"/>
            <a:ext cx="8124836" cy="5317991"/>
            <a:chOff x="0" y="0"/>
            <a:chExt cx="2139875" cy="14006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9875" cy="1400623"/>
            </a:xfrm>
            <a:custGeom>
              <a:avLst/>
              <a:gdLst/>
              <a:ahLst/>
              <a:cxnLst/>
              <a:rect l="l" t="t" r="r" b="b"/>
              <a:pathLst>
                <a:path w="2139875" h="1400623">
                  <a:moveTo>
                    <a:pt x="0" y="0"/>
                  </a:moveTo>
                  <a:lnTo>
                    <a:pt x="2139875" y="0"/>
                  </a:lnTo>
                  <a:lnTo>
                    <a:pt x="2139875" y="1400623"/>
                  </a:lnTo>
                  <a:lnTo>
                    <a:pt x="0" y="1400623"/>
                  </a:lnTo>
                  <a:close/>
                </a:path>
              </a:pathLst>
            </a:custGeom>
            <a:solidFill>
              <a:srgbClr val="D8D4D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39875" cy="1448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34464" y="1959912"/>
            <a:ext cx="8124836" cy="5317991"/>
            <a:chOff x="0" y="0"/>
            <a:chExt cx="2139875" cy="14006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9875" cy="1400623"/>
            </a:xfrm>
            <a:custGeom>
              <a:avLst/>
              <a:gdLst/>
              <a:ahLst/>
              <a:cxnLst/>
              <a:rect l="l" t="t" r="r" b="b"/>
              <a:pathLst>
                <a:path w="2139875" h="1400623">
                  <a:moveTo>
                    <a:pt x="0" y="0"/>
                  </a:moveTo>
                  <a:lnTo>
                    <a:pt x="2139875" y="0"/>
                  </a:lnTo>
                  <a:lnTo>
                    <a:pt x="2139875" y="1400623"/>
                  </a:lnTo>
                  <a:lnTo>
                    <a:pt x="0" y="140062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39875" cy="1448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52505" y="4036948"/>
            <a:ext cx="1163917" cy="116391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64599" y="3056745"/>
            <a:ext cx="6564057" cy="363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Annual Salary: No statistical impact on retention.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Compa-Ratio: Market-competitive pay is not stopping exits.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Finding: We cannot "buy" our way out of this crisis.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4602" y="2226684"/>
            <a:ext cx="587825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ED7D3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Noise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0272" y="3056745"/>
            <a:ext cx="6892483" cy="363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Job Tenure: Risk increases every year in the same role.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u="none" strike="noStrike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Travel Time: Long commutes are a primary trigger for leaving.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u="none" strike="noStrike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u="none" strike="noStrike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Promotion Speed: Lack of movement is our strongest predictor of loss.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47387" y="2226684"/>
            <a:ext cx="587825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ED7D3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Signal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16206" y="2158356"/>
            <a:ext cx="11665404" cy="6328064"/>
          </a:xfrm>
          <a:custGeom>
            <a:avLst/>
            <a:gdLst/>
            <a:ahLst/>
            <a:cxnLst/>
            <a:rect l="l" t="t" r="r" b="b"/>
            <a:pathLst>
              <a:path w="11665404" h="6328064">
                <a:moveTo>
                  <a:pt x="0" y="0"/>
                </a:moveTo>
                <a:lnTo>
                  <a:pt x="11665403" y="0"/>
                </a:lnTo>
                <a:lnTo>
                  <a:pt x="11665403" y="6328063"/>
                </a:lnTo>
                <a:lnTo>
                  <a:pt x="0" y="6328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03" b="-530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0243" y="493247"/>
            <a:ext cx="14235343" cy="81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3"/>
              </a:lnSpc>
              <a:spcBef>
                <a:spcPct val="0"/>
              </a:spcBef>
            </a:pPr>
            <a:r>
              <a:rPr lang="en-US" sz="4738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6-Year Cliff: </a:t>
            </a:r>
            <a:r>
              <a:rPr lang="en-US" sz="4738" b="1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Loyalty Ends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284730"/>
            <a:ext cx="7009320" cy="56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FF914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Critical Findings: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The Stability Phase (0–4 Years): Risk remains manageable under 30%.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The Crisis Point (6 Years): Probability of turnover doubles to 58%.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The Point of No Return: By year 10, the probability of an exit hits 86%.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642" y="8816488"/>
            <a:ext cx="16401658" cy="111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aren't just losing "employees" - we are losing our subject matter experts and institutional memory because they feel trapped in their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22744" y="2290218"/>
            <a:ext cx="11065256" cy="4520504"/>
          </a:xfrm>
          <a:custGeom>
            <a:avLst/>
            <a:gdLst/>
            <a:ahLst/>
            <a:cxnLst/>
            <a:rect l="l" t="t" r="r" b="b"/>
            <a:pathLst>
              <a:path w="11065256" h="4520504">
                <a:moveTo>
                  <a:pt x="0" y="0"/>
                </a:moveTo>
                <a:lnTo>
                  <a:pt x="11065256" y="0"/>
                </a:lnTo>
                <a:lnTo>
                  <a:pt x="11065256" y="4520503"/>
                </a:lnTo>
                <a:lnTo>
                  <a:pt x="0" y="4520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636398"/>
            <a:ext cx="15090852" cy="67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9"/>
              </a:lnSpc>
              <a:spcBef>
                <a:spcPct val="0"/>
              </a:spcBef>
            </a:pPr>
            <a:r>
              <a:rPr lang="en-US" sz="4006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Southwest Crisis:</a:t>
            </a:r>
            <a:r>
              <a:rPr lang="en-US" sz="4006" b="1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Geography as a Predictor of Loss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8368" y="2342025"/>
            <a:ext cx="6884376" cy="4741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4"/>
              </a:lnSpc>
            </a:pPr>
            <a:endParaRPr/>
          </a:p>
          <a:p>
            <a:pPr marL="580487" lvl="1" indent="-290243" algn="l">
              <a:lnSpc>
                <a:spcPts val="3764"/>
              </a:lnSpc>
              <a:buFont typeface="Arial"/>
              <a:buChar char="•"/>
            </a:pPr>
            <a:r>
              <a:rPr lang="en-US" sz="2688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51% Risk: Highest turnover probability in the company.</a:t>
            </a:r>
          </a:p>
          <a:p>
            <a:pPr algn="l">
              <a:lnSpc>
                <a:spcPts val="3764"/>
              </a:lnSpc>
            </a:pPr>
            <a:endParaRPr lang="en-US" sz="2688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80487" lvl="1" indent="-290243" algn="l">
              <a:lnSpc>
                <a:spcPts val="3764"/>
              </a:lnSpc>
              <a:buFont typeface="Arial"/>
              <a:buChar char="•"/>
            </a:pPr>
            <a:r>
              <a:rPr lang="en-US" sz="2688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Logistical Friction: Travel Time is the primary statistical driver.</a:t>
            </a:r>
          </a:p>
          <a:p>
            <a:pPr algn="l">
              <a:lnSpc>
                <a:spcPts val="3764"/>
              </a:lnSpc>
            </a:pPr>
            <a:endParaRPr lang="en-US" sz="2688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80487" lvl="1" indent="-290243" algn="l">
              <a:lnSpc>
                <a:spcPts val="3764"/>
              </a:lnSpc>
              <a:buFont typeface="Arial"/>
              <a:buChar char="•"/>
            </a:pPr>
            <a:r>
              <a:rPr lang="en-US" sz="2688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The "Perfect Storm": Commute stress + role stagnation in the Products Unit.</a:t>
            </a:r>
          </a:p>
          <a:p>
            <a:pPr algn="l">
              <a:lnSpc>
                <a:spcPts val="3764"/>
              </a:lnSpc>
              <a:spcBef>
                <a:spcPct val="0"/>
              </a:spcBef>
            </a:pPr>
            <a:endParaRPr lang="en-US" sz="2688">
              <a:solidFill>
                <a:srgbClr val="54545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8069413"/>
            <a:ext cx="18288000" cy="111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0"/>
              </a:lnSpc>
              <a:spcBef>
                <a:spcPct val="0"/>
              </a:spcBef>
            </a:pPr>
            <a:r>
              <a:rPr lang="en-US" sz="3243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retention pilot cannot be "one-size-fits-all." We must prioritize the Southwest and address the travel-related friction before the talent drain worsens.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10023" y="4465084"/>
            <a:ext cx="11301259" cy="3644656"/>
          </a:xfrm>
          <a:custGeom>
            <a:avLst/>
            <a:gdLst/>
            <a:ahLst/>
            <a:cxnLst/>
            <a:rect l="l" t="t" r="r" b="b"/>
            <a:pathLst>
              <a:path w="11301259" h="3644656">
                <a:moveTo>
                  <a:pt x="0" y="0"/>
                </a:moveTo>
                <a:lnTo>
                  <a:pt x="11301259" y="0"/>
                </a:lnTo>
                <a:lnTo>
                  <a:pt x="11301259" y="3644656"/>
                </a:lnTo>
                <a:lnTo>
                  <a:pt x="0" y="364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516291" y="365827"/>
            <a:ext cx="11301259" cy="73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0"/>
              </a:lnSpc>
              <a:spcBef>
                <a:spcPct val="0"/>
              </a:spcBef>
            </a:pPr>
            <a:r>
              <a:rPr lang="en-US" sz="434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Movement Resets the </a:t>
            </a:r>
            <a:r>
              <a:rPr lang="en-US" sz="4343" b="1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Clock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7116" y="8706402"/>
            <a:ext cx="17413767" cy="104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don't necessarily need more headcount or higher salaries; we need a more fluid internal market. To keep our best people, we must move them before they move 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404456"/>
            <a:ext cx="16230600" cy="222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Power of Internal Mobility</a:t>
            </a:r>
          </a:p>
          <a:p>
            <a:pPr marL="549133" lvl="1" indent="-274567" algn="l">
              <a:lnSpc>
                <a:spcPts val="3560"/>
              </a:lnSpc>
              <a:spcBef>
                <a:spcPct val="0"/>
              </a:spcBef>
              <a:buFont typeface="Arial"/>
              <a:buChar char="•"/>
            </a:pPr>
            <a:r>
              <a:rPr lang="en-US" sz="2543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Danger Zone: Employees with 0–2 promotions are most vulnerable to the "6-Year Cliff."</a:t>
            </a:r>
          </a:p>
          <a:p>
            <a:pPr marL="549133" lvl="1" indent="-274567" algn="l">
              <a:lnSpc>
                <a:spcPts val="3560"/>
              </a:lnSpc>
              <a:spcBef>
                <a:spcPct val="0"/>
              </a:spcBef>
              <a:buFont typeface="Arial"/>
              <a:buChar char="•"/>
            </a:pPr>
            <a:r>
              <a:rPr lang="en-US" sz="2543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Retention Anchor: 5+ promotions drops risk below 30%, regardless of total tenure.</a:t>
            </a:r>
          </a:p>
          <a:p>
            <a:pPr marL="549133" lvl="1" indent="-274567" algn="l">
              <a:lnSpc>
                <a:spcPts val="3560"/>
              </a:lnSpc>
              <a:spcBef>
                <a:spcPct val="0"/>
              </a:spcBef>
              <a:buFont typeface="Arial"/>
              <a:buChar char="•"/>
            </a:pPr>
            <a:r>
              <a:rPr lang="en-US" sz="2543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"Reset" Effect: Every move serves as a psychological "reset," dramatically lowering exit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20" y="558081"/>
            <a:ext cx="15168380" cy="82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20"/>
              </a:lnSpc>
              <a:spcBef>
                <a:spcPct val="0"/>
              </a:spcBef>
            </a:pPr>
            <a:r>
              <a:rPr lang="en-US" sz="4943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Path Forward: </a:t>
            </a:r>
            <a:r>
              <a:rPr lang="en-US" sz="4943" b="1" dirty="0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Pilot Retention Program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7498" y="2041797"/>
            <a:ext cx="16968585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3-Year "Stay" Interviews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Intervene before the 6-Year Cliff.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 HR will conduct mandatory career-mapping sessions for all employees hitting their 3rd anniversary to prevent the stagnation spike.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7498" y="4711972"/>
            <a:ext cx="16968585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Southwest Hybrid-Flex Pilot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Neutralize "Travel Time" friction.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 Implement a 2-day remote work option specifically for the Southwest region to reduce the logistical burden identified in the regression.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498" y="7386860"/>
            <a:ext cx="17172306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ED7D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Products Unit" Lateral Rotations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Reset the stagnation clock for subject matter experts.</a:t>
            </a: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trike="noStrike">
                <a:solidFill>
                  <a:srgbClr val="7373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Action: Launch a mobility program allowing veterans in the Products Unit to rotate into new job functions, providing a psychological "reset" without requiring a promotion.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511</Words>
  <Application>Microsoft Office PowerPoint</Application>
  <PresentationFormat>Custom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Open Sauce Bold Italics</vt:lpstr>
      <vt:lpstr>Open Sauce Bold</vt:lpstr>
      <vt:lpstr>Open Sauce Semi-Bold</vt:lpstr>
      <vt:lpstr>Open Sauce</vt:lpstr>
      <vt:lpstr>Calibri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Stagnation Crisis: Why Our Top Talent is Preparing to Leave</dc:title>
  <cp:lastModifiedBy>Saumya Singhani</cp:lastModifiedBy>
  <cp:revision>2</cp:revision>
  <dcterms:created xsi:type="dcterms:W3CDTF">2006-08-16T00:00:00Z</dcterms:created>
  <dcterms:modified xsi:type="dcterms:W3CDTF">2025-12-17T19:36:31Z</dcterms:modified>
  <dc:identifier>DAG7x9-TUro</dc:identifier>
</cp:coreProperties>
</file>